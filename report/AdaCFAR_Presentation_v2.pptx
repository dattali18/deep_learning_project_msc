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CA-CFAR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20 dB Pd</c:v>
                </c:pt>
                <c:pt idx="1">
                  <c:v>15 dB Pd</c:v>
                </c:pt>
                <c:pt idx="2">
                  <c:v>20 dB FA</c:v>
                </c:pt>
                <c:pt idx="3">
                  <c:v>15 dB FA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55.6</c:v>
                </c:pt>
                <c:pt idx="1">
                  <c:v>41.3</c:v>
                </c:pt>
                <c:pt idx="2">
                  <c:v>291</c:v>
                </c:pt>
                <c:pt idx="3">
                  <c:v>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B-4FF3-97DE-F1F5560226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AdaCFAR V4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20 dB Pd</c:v>
                </c:pt>
                <c:pt idx="1">
                  <c:v>15 dB Pd</c:v>
                </c:pt>
                <c:pt idx="2">
                  <c:v>20 dB FA</c:v>
                </c:pt>
                <c:pt idx="3">
                  <c:v>15 dB FA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71.7</c:v>
                </c:pt>
                <c:pt idx="1">
                  <c:v>58.9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5B-4FF3-97DE-F1F556022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he-IL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BC895-E670-094B-ADAF-986F9107EC27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F590E-3A69-3341-925C-7F53DE78D8B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2570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F590E-3A69-3341-925C-7F53DE78D8B7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8407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6858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F3A56"/>
                </a:solidFill>
                <a:latin typeface="Aptos Display"/>
              </a:rPr>
              <a:t>AdaCFAR-1D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6949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82828"/>
                </a:solidFill>
                <a:latin typeface="Aptos"/>
              </a:rPr>
              <a:t>Deep Adaptive Detection for Heterogeneous Radar Clutter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0"/>
            <a:ext cx="32994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5F6973"/>
                </a:solidFill>
                <a:latin typeface="Aptos"/>
              </a:rPr>
              <a:t>Daniel Attali &amp; Sapir Bashan
Deep Learning Course | 26/06/2026</a:t>
            </a:r>
          </a:p>
        </p:txBody>
      </p:sp>
      <p:pic>
        <p:nvPicPr>
          <p:cNvPr id="6" name="Picture 5" descr="JCT International Program | Jerusalem">
            <a:extLst>
              <a:ext uri="{FF2B5EF4-FFF2-40B4-BE49-F238E27FC236}">
                <a16:creationId xmlns:a16="http://schemas.microsoft.com/office/drawing/2014/main" id="{31A2C132-6D2B-D184-B9FF-661523006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81" y="292893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30C4F4-9124-8174-E03B-2807DBEB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063240"/>
            <a:ext cx="4572000" cy="3429000"/>
          </a:xfrm>
          <a:prstGeom prst="roundRect">
            <a:avLst/>
          </a:prstGeom>
          <a:effectLst>
            <a:softEdge rad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1C93D3-2C8B-BDA7-4C45-B9042550F95C}"/>
              </a:ext>
            </a:extLst>
          </p:cNvPr>
          <p:cNvSpPr/>
          <p:nvPr/>
        </p:nvSpPr>
        <p:spPr>
          <a:xfrm>
            <a:off x="777240" y="2615235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Radar Detection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4262" y="63322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508760"/>
            <a:ext cx="4800600" cy="1920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rPr dirty="0"/>
              <a:t>Detection is the first hard decision in the radar chain</a:t>
            </a:r>
          </a:p>
          <a:p>
            <a:pPr>
              <a:spcAft>
                <a:spcPts val="6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rPr dirty="0"/>
              <a:t>Missed detections reduce target observability</a:t>
            </a:r>
          </a:p>
          <a:p>
            <a:pPr>
              <a:spcAft>
                <a:spcPts val="6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rPr dirty="0"/>
              <a:t>False alarms overload downstream tracking and association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4160520"/>
            <a:ext cx="4480560" cy="1188720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lang="en-US" sz="2000" dirty="0">
              <a:solidFill>
                <a:srgbClr val="282828"/>
              </a:solidFill>
              <a:latin typeface="Cambria Math"/>
            </a:endParaRPr>
          </a:p>
          <a:p>
            <a:pPr algn="ctr"/>
            <a:endParaRPr lang="en-US" sz="1000" dirty="0">
              <a:solidFill>
                <a:srgbClr val="5F6973"/>
              </a:solidFill>
              <a:latin typeface="Aptos"/>
            </a:endParaRPr>
          </a:p>
          <a:p>
            <a:pPr algn="ctr"/>
            <a:endParaRPr lang="en-US" sz="1000" dirty="0">
              <a:solidFill>
                <a:srgbClr val="5F6973"/>
              </a:solidFill>
              <a:latin typeface="Aptos"/>
            </a:endParaRPr>
          </a:p>
          <a:p>
            <a:pPr algn="ctr"/>
            <a:endParaRPr lang="en-US" sz="1000" dirty="0">
              <a:solidFill>
                <a:srgbClr val="5F6973"/>
              </a:solidFill>
              <a:latin typeface="Aptos"/>
            </a:endParaRPr>
          </a:p>
          <a:p>
            <a:pPr algn="ctr"/>
            <a:r>
              <a:rPr lang="en-US" sz="1000" dirty="0">
                <a:solidFill>
                  <a:srgbClr val="5F6973"/>
                </a:solidFill>
                <a:latin typeface="Aptos"/>
              </a:rPr>
              <a:t>Two-way propagation delay</a:t>
            </a:r>
            <a:endParaRPr sz="1000" dirty="0">
              <a:solidFill>
                <a:srgbClr val="5F6973"/>
              </a:solidFill>
              <a:latin typeface="Apto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C8987B-77B3-60F2-2E64-E1EAC8B2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4" y="1415955"/>
            <a:ext cx="5994561" cy="3647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AD5402-2AD5-165C-3317-2B666444D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760" y="4322282"/>
            <a:ext cx="989763" cy="5583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Classical Solution: CA-CFAR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17320"/>
            <a:ext cx="3840480" cy="685800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sz="2000" dirty="0">
              <a:solidFill>
                <a:srgbClr val="282828"/>
              </a:solidFill>
              <a:latin typeface="Cambria Math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79" y="2331720"/>
            <a:ext cx="3840480" cy="685800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sz="2000" dirty="0">
              <a:solidFill>
                <a:srgbClr val="282828"/>
              </a:solidFill>
              <a:latin typeface="Cambria Math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79" y="3246120"/>
            <a:ext cx="3840480" cy="685800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sz="2000" dirty="0">
              <a:solidFill>
                <a:srgbClr val="282828"/>
              </a:solidFill>
              <a:latin typeface="Cambria Mat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4409696"/>
            <a:ext cx="996696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Local noise estimate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Adaptive threshold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Works well in homogeneous environments</a:t>
            </a:r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645C62BC-D94C-D97E-3758-BD39F6B73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1434844"/>
            <a:ext cx="5827764" cy="1790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CAF896-0ED7-207A-F91F-D47F81B3F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17" y="1490251"/>
            <a:ext cx="1520801" cy="6025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F49266-7F52-BB1C-F010-1FA1261FA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700" y="2478024"/>
            <a:ext cx="1295238" cy="3714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CE1EA6-2D09-3013-BF5D-64D4F0BD7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128" y="3463341"/>
            <a:ext cx="2552381" cy="266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The Problem: Target Masking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508760"/>
            <a:ext cx="3840480" cy="1645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Training cells include high-power clutter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Estimated noise floor becomes biased upward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Threshold rises and masks nearby targets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635240" y="3749039"/>
                <a:ext cx="3749039" cy="1167090"/>
              </a:xfrm>
              <a:prstGeom prst="roundRect">
                <a:avLst/>
              </a:prstGeom>
              <a:solidFill>
                <a:srgbClr val="FAFBFC"/>
              </a:solidFill>
              <a:ln>
                <a:solidFill>
                  <a:srgbClr val="B9C3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0" rIns="182880" rtlCol="0" anchor="ctr"/>
              <a:lstStyle/>
              <a:p>
                <a:pPr algn="ctr"/>
                <a:endParaRPr lang="en-US" sz="1000" dirty="0">
                  <a:solidFill>
                    <a:srgbClr val="5F6973"/>
                  </a:solidFill>
                  <a:latin typeface="Aptos"/>
                </a:endParaRPr>
              </a:p>
              <a:p>
                <a:pPr algn="ctr"/>
                <a:endParaRPr lang="en-US" sz="1000" dirty="0">
                  <a:solidFill>
                    <a:srgbClr val="5F6973"/>
                  </a:solidFill>
                  <a:latin typeface="Aptos"/>
                </a:endParaRPr>
              </a:p>
              <a:p>
                <a:pPr algn="ctr"/>
                <a:r>
                  <a:rPr lang="en-US" sz="1000" dirty="0">
                    <a:solidFill>
                      <a:srgbClr val="5F6973"/>
                    </a:solidFill>
                    <a:latin typeface="Aptos"/>
                  </a:rPr>
                  <a:t>Target can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5F69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5F697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5F697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0" i="1" smtClean="0">
                        <a:solidFill>
                          <a:srgbClr val="5F6973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rgbClr val="5F69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5F697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5F697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sz="1000" dirty="0">
                  <a:solidFill>
                    <a:srgbClr val="5F6973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3749039"/>
                <a:ext cx="3749039" cy="116709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B9C3CD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54F1DFE-A6D5-CCC1-628E-22DD7AFA1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2031922"/>
            <a:ext cx="6125496" cy="29861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296D11-A603-A679-B6A0-6C951F846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568" y="3929085"/>
            <a:ext cx="1752381" cy="371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Key Observation: CFAR is a Fixed Convolution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79" y="3945232"/>
            <a:ext cx="10839609" cy="1009856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sz="2000" dirty="0">
              <a:solidFill>
                <a:srgbClr val="282828"/>
              </a:solidFill>
              <a:latin typeface="Cambria Math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5174866"/>
            <a:ext cx="10515600" cy="960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rPr dirty="0"/>
              <a:t>CFAR is not unrelated to deep learning — it is already convolutional</a:t>
            </a:r>
          </a:p>
          <a:p>
            <a:pPr>
              <a:spcAft>
                <a:spcPts val="6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rPr dirty="0"/>
              <a:t>The difference: CFAR weights are hand-designed and fixed</a:t>
            </a:r>
          </a:p>
          <a:p>
            <a:pPr>
              <a:spcAft>
                <a:spcPts val="6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rPr dirty="0"/>
              <a:t>Conv1D weights can be learned for the target clutter regime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CA923C-31CB-E45D-62E6-25E0977AC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91" y="4260792"/>
            <a:ext cx="2552381" cy="3714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D7996C-C147-826C-3541-8DA1FC9C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165724"/>
            <a:ext cx="4983480" cy="588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C8D478-AA97-366E-BBEA-D0200599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353950"/>
            <a:ext cx="7772400" cy="2331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98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F3A56"/>
                </a:solidFill>
                <a:latin typeface="Aptos Display"/>
              </a:rPr>
              <a:t>Can a learned Conv1D detector outperform fixed CA-CFAR in heterogeneous clutter?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606040"/>
            <a:ext cx="6217920" cy="868680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sz="100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4846320" cy="15544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500" b="1">
                <a:solidFill>
                  <a:srgbClr val="1F3A56"/>
                </a:solidFill>
                <a:latin typeface="Aptos"/>
              </a:rPr>
              <a:t>CA-CFAR
</a:t>
            </a:r>
            <a:r>
              <a:rPr sz="1200">
                <a:solidFill>
                  <a:srgbClr val="5F6973"/>
                </a:solidFill>
                <a:latin typeface="Aptos"/>
              </a:rPr>
              <a:t>Fixed detector
Manual parameters
Analytical assumptions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4846320" cy="15544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500" b="1">
                <a:solidFill>
                  <a:srgbClr val="1F3A56"/>
                </a:solidFill>
                <a:latin typeface="Aptos"/>
              </a:rPr>
              <a:t>AdaCFAR-1D
</a:t>
            </a:r>
            <a:r>
              <a:rPr sz="1200">
                <a:solidFill>
                  <a:srgbClr val="5F6973"/>
                </a:solidFill>
                <a:latin typeface="Aptos"/>
              </a:rPr>
              <a:t>Learned detector
Task-specific parameters
Trained on simulated radar profiles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2F0EC9-FDAE-0DAD-2E62-745F47773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617" y="2935618"/>
            <a:ext cx="2514286" cy="209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Dataset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Targets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01952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Radar Eq.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36392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00984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Beamforming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35424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0016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Pulse
Compression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34456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99048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Envelope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33488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0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NCI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97112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1D Profile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31552" y="1783080"/>
            <a:ext cx="164592" cy="0"/>
          </a:xfrm>
          <a:prstGeom prst="line">
            <a:avLst/>
          </a:prstGeom>
          <a:ln w="1905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96144" y="1417320"/>
            <a:ext cx="1234440" cy="731520"/>
          </a:xfrm>
          <a:prstGeom prst="roundRect">
            <a:avLst/>
          </a:prstGeom>
          <a:solidFill>
            <a:srgbClr val="EEF1F5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  <a:latin typeface="Aptos"/>
              </a:rPr>
              <a:t>Clutter +
Mask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84243"/>
              </p:ext>
            </p:extLst>
          </p:nvPr>
        </p:nvGraphicFramePr>
        <p:xfrm>
          <a:off x="914400" y="2743200"/>
          <a:ext cx="4389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Training profiles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25,000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Validation profiles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1,000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Range gates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1024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Targets/profile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0–4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SNR range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15–30 dB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82828"/>
                          </a:solidFill>
                          <a:latin typeface="Aptos"/>
                        </a:rPr>
                        <a:t>Stress clutter multiplier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82828"/>
                          </a:solidFill>
                          <a:latin typeface="Aptos"/>
                        </a:rPr>
                        <a:t>5.0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E026D40C-18B6-1D72-734A-44B1DDAC9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066" y="2625005"/>
            <a:ext cx="4978908" cy="3332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Example Training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0584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  <a:latin typeface="Aptos"/>
              </a:defRPr>
            </a:pPr>
            <a:r>
              <a:t>Labels are generated from the clean processed target response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  <a:latin typeface="Aptos"/>
              </a:defRPr>
            </a:pPr>
            <a:r>
              <a:t>The target is not a single bin: it occupies the pulse-compressed response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F33637-345F-5A5D-8AE8-89B3A8E5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176" y="1407601"/>
            <a:ext cx="7259648" cy="4042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AdaCFAR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FB02580-2F9C-A497-5757-E3BF21FBC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75" y="1140024"/>
            <a:ext cx="7772400" cy="34776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4617721"/>
            <a:ext cx="4754880" cy="151733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/>
              <a:t>Wide first kernel captures pulse morphology</a:t>
            </a:r>
          </a:p>
          <a:p>
            <a:pPr>
              <a:spcAft>
                <a:spcPts val="6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/>
              <a:t>Dilated convolutions capture long-range clutter context</a:t>
            </a:r>
          </a:p>
          <a:p>
            <a:pPr>
              <a:spcAft>
                <a:spcPts val="6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rPr dirty="0"/>
              <a:t>Skip connection preserves local target features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rPr lang="en-IL" dirty="0"/>
              <a:t>40k Parameters (very small for RT inference)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Training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92794"/>
            <a:ext cx="10058400" cy="2708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  <a:latin typeface="Aptos"/>
              </a:defRPr>
            </a:pPr>
            <a:r>
              <a:rPr lang="en-US" dirty="0"/>
              <a:t>We had to find a suitable loss function: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B88130-D976-2D4B-819B-A041C1F29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3" y="1382170"/>
            <a:ext cx="5573587" cy="3483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8BD807-AC93-59E4-BE6C-7FA9825B4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343406"/>
            <a:ext cx="5697634" cy="3561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151A8F-D97E-3C5A-9BA2-4DA875BEB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850" y="5268263"/>
            <a:ext cx="36703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Detection Probability: CA-CFAR vs AdaCFAR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043443"/>
              </p:ext>
            </p:extLst>
          </p:nvPr>
        </p:nvGraphicFramePr>
        <p:xfrm>
          <a:off x="1965960" y="1458468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SNR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CA-CFAR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AdaCFAR V4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Improvement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30 dB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78.4%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82828"/>
                          </a:solidFill>
                          <a:latin typeface="Aptos"/>
                        </a:rPr>
                        <a:t>88.5%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+10.1 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25 dB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68.8%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82828"/>
                          </a:solidFill>
                          <a:latin typeface="Aptos"/>
                        </a:rPr>
                        <a:t>82.4%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+13.6 pts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20 dB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55.6%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82828"/>
                          </a:solidFill>
                          <a:latin typeface="Aptos"/>
                        </a:rPr>
                        <a:t>71.7%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+16.1 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15 dB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82828"/>
                          </a:solidFill>
                          <a:latin typeface="Aptos"/>
                        </a:rPr>
                        <a:t>41.3%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82828"/>
                          </a:solidFill>
                          <a:latin typeface="Aptos"/>
                        </a:rPr>
                        <a:t>58.9%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82828"/>
                          </a:solidFill>
                          <a:latin typeface="Aptos"/>
                        </a:rPr>
                        <a:t>+17.6 pts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97280" y="4800600"/>
                <a:ext cx="9144000" cy="686342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>
                <a:spAutoFit/>
              </a:bodyPr>
              <a:lstStyle/>
              <a:p>
                <a:pPr>
                  <a:spcAft>
                    <a:spcPts val="600"/>
                  </a:spcAft>
                  <a:defRPr sz="1800">
                    <a:solidFill>
                      <a:srgbClr val="282828"/>
                    </a:solidFill>
                    <a:latin typeface="Aptos"/>
                  </a:defRPr>
                </a:pPr>
                <a:r>
                  <a:rPr lang="en-US" dirty="0"/>
                  <a:t>AdaCFAR improves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at every tested SNR</a:t>
                </a:r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82828"/>
                    </a:solidFill>
                    <a:latin typeface="Aptos"/>
                  </a:defRPr>
                </a:pPr>
                <a:r>
                  <a:rPr lang="en-US" dirty="0"/>
                  <a:t>The gain grows as the scenario becomes harder</a:t>
                </a:r>
                <a:endParaRPr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800600"/>
                <a:ext cx="9144000" cy="686342"/>
              </a:xfrm>
              <a:prstGeom prst="rect">
                <a:avLst/>
              </a:prstGeom>
              <a:blipFill>
                <a:blip r:embed="rId2"/>
                <a:stretch>
                  <a:fillRect l="-1067" t="-7143" b="-160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False Alarm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288792"/>
              </p:ext>
            </p:extLst>
          </p:nvPr>
        </p:nvGraphicFramePr>
        <p:xfrm>
          <a:off x="2286000" y="1504041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SNR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CA-CFAR FA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AdaCFAR</a:t>
                      </a:r>
                      <a:r>
                        <a:rPr sz="1900" b="1" dirty="0">
                          <a:solidFill>
                            <a:srgbClr val="FFFFFF"/>
                          </a:solidFill>
                          <a:latin typeface="Aptos"/>
                        </a:rPr>
                        <a:t> V4 FA</a:t>
                      </a:r>
                    </a:p>
                  </a:txBody>
                  <a:tcPr marL="54864" marR="54864" marT="27432" marB="27432">
                    <a:solidFill>
                      <a:srgbClr val="1F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82828"/>
                          </a:solidFill>
                          <a:latin typeface="Aptos"/>
                        </a:rPr>
                        <a:t>30 dB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dirty="0">
                          <a:solidFill>
                            <a:srgbClr val="282828"/>
                          </a:solidFill>
                          <a:latin typeface="Aptos"/>
                        </a:rPr>
                        <a:t>285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282828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82828"/>
                          </a:solidFill>
                          <a:latin typeface="Aptos"/>
                        </a:rPr>
                        <a:t>25 dB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dirty="0">
                          <a:solidFill>
                            <a:srgbClr val="282828"/>
                          </a:solidFill>
                          <a:latin typeface="Aptos"/>
                        </a:rPr>
                        <a:t>287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282828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82828"/>
                          </a:solidFill>
                          <a:latin typeface="Aptos"/>
                        </a:rPr>
                        <a:t>20 dB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82828"/>
                          </a:solidFill>
                          <a:latin typeface="Aptos"/>
                        </a:rPr>
                        <a:t>291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28282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82828"/>
                          </a:solidFill>
                          <a:latin typeface="Aptos"/>
                        </a:rPr>
                        <a:t>15 dB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82828"/>
                          </a:solidFill>
                          <a:latin typeface="Aptos"/>
                        </a:rPr>
                        <a:t>278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282828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54480" y="4800600"/>
            <a:ext cx="9144000" cy="822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False alarms are counted as connected predicted components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The final model improves detection without flooding the tracker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Qualitative Comparison: V4 vs CA-CFAR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768444"/>
              </p:ext>
            </p:extLst>
          </p:nvPr>
        </p:nvGraphicFramePr>
        <p:xfrm>
          <a:off x="2697480" y="137160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3212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rPr dirty="0"/>
              <a:t>The chart mixes Pd (%) and FA counts for visual contrast only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rPr dirty="0"/>
              <a:t>Use actual profile figure for final qualitative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6"/>
                </a:solidFill>
                <a:latin typeface="Aptos Display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EEF1F5"/>
          </a:solidFill>
          <a:ln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6675120" cy="2926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82828"/>
                </a:solidFill>
                <a:latin typeface="Aptos"/>
              </a:defRPr>
            </a:pPr>
            <a:r>
              <a:rPr dirty="0"/>
              <a:t>CA-CFAR can be interpreted as a fixed convolutional detector</a:t>
            </a:r>
          </a:p>
          <a:p>
            <a:pPr>
              <a:spcAft>
                <a:spcPts val="600"/>
              </a:spcAft>
              <a:defRPr sz="2200">
                <a:solidFill>
                  <a:srgbClr val="282828"/>
                </a:solidFill>
                <a:latin typeface="Aptos"/>
              </a:defRPr>
            </a:pPr>
            <a:r>
              <a:rPr dirty="0"/>
              <a:t>AdaCFAR-1D learns a task-specific Conv1D detection rule</a:t>
            </a:r>
          </a:p>
          <a:p>
            <a:pPr>
              <a:spcAft>
                <a:spcPts val="600"/>
              </a:spcAft>
              <a:defRPr sz="2200">
                <a:solidFill>
                  <a:srgbClr val="282828"/>
                </a:solidFill>
                <a:latin typeface="Aptos"/>
              </a:defRPr>
            </a:pPr>
            <a:r>
              <a:rPr dirty="0"/>
              <a:t>The final model improves detection probability while suppressing false alarms</a:t>
            </a:r>
          </a:p>
          <a:p>
            <a:pPr>
              <a:spcAft>
                <a:spcPts val="600"/>
              </a:spcAft>
              <a:defRPr sz="2200">
                <a:solidFill>
                  <a:srgbClr val="282828"/>
                </a:solidFill>
                <a:latin typeface="Aptos"/>
              </a:defRPr>
            </a:pPr>
            <a:r>
              <a:rPr dirty="0"/>
              <a:t>This is a proof of concept, not a general CFAR replacement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892040"/>
            <a:ext cx="8138160" cy="777240"/>
          </a:xfrm>
          <a:prstGeom prst="roundRect">
            <a:avLst/>
          </a:prstGeom>
          <a:solidFill>
            <a:srgbClr val="FAFBFC"/>
          </a:solidFill>
          <a:ln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endParaRPr lang="he-IL" sz="1000" dirty="0">
              <a:solidFill>
                <a:srgbClr val="5F6973"/>
              </a:solidFill>
              <a:latin typeface="Aptos"/>
            </a:endParaRPr>
          </a:p>
          <a:p>
            <a:pPr algn="ctr"/>
            <a:endParaRPr lang="he-IL" sz="1000" dirty="0">
              <a:solidFill>
                <a:srgbClr val="5F6973"/>
              </a:solidFill>
              <a:latin typeface="Aptos"/>
            </a:endParaRPr>
          </a:p>
          <a:p>
            <a:pPr algn="ctr"/>
            <a:endParaRPr lang="he-IL" sz="1000" dirty="0">
              <a:solidFill>
                <a:srgbClr val="5F6973"/>
              </a:solidFill>
              <a:latin typeface="Aptos"/>
            </a:endParaRPr>
          </a:p>
          <a:p>
            <a:pPr algn="ctr"/>
            <a:r>
              <a:rPr sz="1000" dirty="0">
                <a:solidFill>
                  <a:srgbClr val="5F6973"/>
                </a:solidFill>
                <a:latin typeface="Aptos"/>
              </a:rPr>
              <a:t>Manual detector → learned adaptive detector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434F14-3594-33D8-1E05-B437A03A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617" y="5120640"/>
            <a:ext cx="2514286" cy="209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28282"/>
                </a:solidFill>
                <a:latin typeface="Aptos"/>
              </a:rPr>
              <a:t>AdaCFAR-1D  |  Deep Learning Course  |  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EA49B-F674-0CD9-0C7F-A722468BD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976" y="725509"/>
            <a:ext cx="9612413" cy="5406982"/>
          </a:xfrm>
          <a:prstGeom prst="round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09541" y="2957543"/>
            <a:ext cx="29098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chemeClr val="bg1"/>
                </a:solidFill>
                <a:latin typeface="Aptos Display"/>
              </a:rPr>
              <a:t>Questions?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FF32D-B33E-3596-0313-8D3799D900A6}"/>
              </a:ext>
            </a:extLst>
          </p:cNvPr>
          <p:cNvSpPr txBox="1"/>
          <p:nvPr/>
        </p:nvSpPr>
        <p:spPr>
          <a:xfrm>
            <a:off x="1655497" y="3916143"/>
            <a:ext cx="38243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 Display"/>
              </a:rPr>
              <a:t>Daniel Attali &amp; Sapir Bashan</a:t>
            </a:r>
            <a:endParaRPr sz="2400" b="1" dirty="0">
              <a:solidFill>
                <a:schemeClr val="bg1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552</Words>
  <Application>Microsoft Macintosh PowerPoint</Application>
  <PresentationFormat>Widescreen</PresentationFormat>
  <Paragraphs>134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Attali</cp:lastModifiedBy>
  <cp:revision>17</cp:revision>
  <dcterms:created xsi:type="dcterms:W3CDTF">2013-01-27T09:14:16Z</dcterms:created>
  <dcterms:modified xsi:type="dcterms:W3CDTF">2026-06-16T14:06:43Z</dcterms:modified>
  <cp:category/>
</cp:coreProperties>
</file>