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3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CA-CFAR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20 dB Pd</c:v>
                </c:pt>
                <c:pt idx="1">
                  <c:v>15 dB Pd</c:v>
                </c:pt>
                <c:pt idx="2">
                  <c:v>20 dB FA</c:v>
                </c:pt>
                <c:pt idx="3">
                  <c:v>15 dB FA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55.6</c:v>
                </c:pt>
                <c:pt idx="1">
                  <c:v>41.3</c:v>
                </c:pt>
                <c:pt idx="2">
                  <c:v>291</c:v>
                </c:pt>
                <c:pt idx="3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F5B-4FF3-97DE-F1F55602266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AdaCFAR V4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20 dB Pd</c:v>
                </c:pt>
                <c:pt idx="1">
                  <c:v>15 dB Pd</c:v>
                </c:pt>
                <c:pt idx="2">
                  <c:v>20 dB FA</c:v>
                </c:pt>
                <c:pt idx="3">
                  <c:v>15 dB FA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71.7</c:v>
                </c:pt>
                <c:pt idx="1">
                  <c:v>58.9</c:v>
                </c:pt>
                <c:pt idx="2">
                  <c:v>3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F5B-4FF3-97DE-F1F5560226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he-IL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he-IL"/>
          </a:p>
        </c:txPr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097280"/>
            <a:ext cx="6858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1F3A56"/>
                </a:solidFill>
                <a:latin typeface="Aptos Display"/>
              </a:rPr>
              <a:t>AdaCFAR-1D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57400"/>
            <a:ext cx="69494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282828"/>
                </a:solidFill>
                <a:latin typeface="Aptos"/>
              </a:rPr>
              <a:t>Deep Adaptive Detection for Heterogeneous Radar Clutter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0"/>
            <a:ext cx="329942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rgbClr val="5F6973"/>
                </a:solidFill>
                <a:latin typeface="Aptos"/>
              </a:rPr>
              <a:t>Daniel Attali &amp; Sapir Bashan
Deep Learning Course | 26/06/2026</a:t>
            </a:r>
          </a:p>
        </p:txBody>
      </p:sp>
      <p:pic>
        <p:nvPicPr>
          <p:cNvPr id="6" name="Picture 5" descr="JCT International Program | Jerusalem">
            <a:extLst>
              <a:ext uri="{FF2B5EF4-FFF2-40B4-BE49-F238E27FC236}">
                <a16:creationId xmlns:a16="http://schemas.microsoft.com/office/drawing/2014/main" id="{31A2C132-6D2B-D184-B9FF-661523006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481" y="2928937"/>
            <a:ext cx="2143125" cy="2143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30C4F4-9124-8174-E03B-2807DBEB6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3063240"/>
            <a:ext cx="4572000" cy="3429000"/>
          </a:xfrm>
          <a:prstGeom prst="roundRect">
            <a:avLst/>
          </a:prstGeom>
          <a:effectLst>
            <a:softEdge rad="0"/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51C93D3-2C8B-BDA7-4C45-B9042550F95C}"/>
              </a:ext>
            </a:extLst>
          </p:cNvPr>
          <p:cNvSpPr/>
          <p:nvPr/>
        </p:nvSpPr>
        <p:spPr>
          <a:xfrm>
            <a:off x="777240" y="2615235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Radar Detection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24262" y="63322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37960" y="1508760"/>
            <a:ext cx="4800600" cy="1920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rPr dirty="0"/>
              <a:t>Detection is the first hard decision in the radar chain</a:t>
            </a:r>
          </a:p>
          <a:p>
            <a:pPr>
              <a:spcAft>
                <a:spcPts val="6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rPr dirty="0"/>
              <a:t>Missed detections reduce target observability</a:t>
            </a:r>
          </a:p>
          <a:p>
            <a:pPr>
              <a:spcAft>
                <a:spcPts val="600"/>
              </a:spcAft>
              <a:defRPr sz="2000">
                <a:solidFill>
                  <a:srgbClr val="282828"/>
                </a:solidFill>
                <a:latin typeface="Aptos"/>
              </a:defRPr>
            </a:pPr>
            <a:r>
              <a:rPr dirty="0"/>
              <a:t>False alarms overload downstream tracking and association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4160520"/>
            <a:ext cx="4480560" cy="1188720"/>
          </a:xfrm>
          <a:prstGeom prst="roundRect">
            <a:avLst/>
          </a:prstGeom>
          <a:solidFill>
            <a:srgbClr val="FAFBFC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/>
            <a:endParaRPr lang="en-US" sz="2000" dirty="0">
              <a:solidFill>
                <a:srgbClr val="282828"/>
              </a:solidFill>
              <a:latin typeface="Cambria Math"/>
            </a:endParaRPr>
          </a:p>
          <a:p>
            <a:pPr algn="ctr"/>
            <a:endParaRPr lang="en-US" sz="1000" dirty="0">
              <a:solidFill>
                <a:srgbClr val="5F6973"/>
              </a:solidFill>
              <a:latin typeface="Aptos"/>
            </a:endParaRPr>
          </a:p>
          <a:p>
            <a:pPr algn="ctr"/>
            <a:endParaRPr lang="en-US" sz="1000" dirty="0">
              <a:solidFill>
                <a:srgbClr val="5F6973"/>
              </a:solidFill>
              <a:latin typeface="Aptos"/>
            </a:endParaRPr>
          </a:p>
          <a:p>
            <a:pPr algn="ctr"/>
            <a:endParaRPr lang="en-US" sz="1000" dirty="0">
              <a:solidFill>
                <a:srgbClr val="5F6973"/>
              </a:solidFill>
              <a:latin typeface="Aptos"/>
            </a:endParaRPr>
          </a:p>
          <a:p>
            <a:pPr algn="ctr"/>
            <a:r>
              <a:rPr lang="en-US" sz="1000" dirty="0">
                <a:solidFill>
                  <a:srgbClr val="5F6973"/>
                </a:solidFill>
                <a:latin typeface="Aptos"/>
              </a:rPr>
              <a:t>Two-way propagation delay</a:t>
            </a:r>
            <a:endParaRPr sz="1000" dirty="0">
              <a:solidFill>
                <a:srgbClr val="5F6973"/>
              </a:solidFill>
              <a:latin typeface="Aptos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EC8987B-77B3-60F2-2E64-E1EAC8B28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4" y="1415955"/>
            <a:ext cx="5994561" cy="364746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EAD5402-2AD5-165C-3317-2B666444D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760" y="4322282"/>
            <a:ext cx="989763" cy="5583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Classical Solution: CA-CFAR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417320"/>
            <a:ext cx="3840480" cy="685800"/>
          </a:xfrm>
          <a:prstGeom prst="roundRect">
            <a:avLst/>
          </a:prstGeom>
          <a:solidFill>
            <a:srgbClr val="FAFBFC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/>
            <a:endParaRPr sz="2000" dirty="0">
              <a:solidFill>
                <a:srgbClr val="282828"/>
              </a:solidFill>
              <a:latin typeface="Cambria Math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498079" y="2331720"/>
            <a:ext cx="3840480" cy="685800"/>
          </a:xfrm>
          <a:prstGeom prst="roundRect">
            <a:avLst/>
          </a:prstGeom>
          <a:solidFill>
            <a:srgbClr val="FAFBFC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/>
            <a:endParaRPr sz="2000" dirty="0">
              <a:solidFill>
                <a:srgbClr val="282828"/>
              </a:solidFill>
              <a:latin typeface="Cambria Math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498079" y="3246120"/>
            <a:ext cx="3840480" cy="685800"/>
          </a:xfrm>
          <a:prstGeom prst="roundRect">
            <a:avLst/>
          </a:prstGeom>
          <a:solidFill>
            <a:srgbClr val="FAFBFC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/>
            <a:endParaRPr sz="2000" dirty="0">
              <a:solidFill>
                <a:srgbClr val="282828"/>
              </a:solidFill>
              <a:latin typeface="Cambria Math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4409696"/>
            <a:ext cx="996696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82828"/>
                </a:solidFill>
                <a:latin typeface="Aptos"/>
              </a:defRPr>
            </a:pPr>
            <a:r>
              <a:t>Local noise estimate</a:t>
            </a:r>
          </a:p>
          <a:p>
            <a:pPr>
              <a:spcAft>
                <a:spcPts val="600"/>
              </a:spcAft>
              <a:defRPr sz="1800">
                <a:solidFill>
                  <a:srgbClr val="282828"/>
                </a:solidFill>
                <a:latin typeface="Aptos"/>
              </a:defRPr>
            </a:pPr>
            <a:r>
              <a:t>Adaptive threshold</a:t>
            </a:r>
          </a:p>
          <a:p>
            <a:pPr>
              <a:spcAft>
                <a:spcPts val="600"/>
              </a:spcAft>
              <a:defRPr sz="1800">
                <a:solidFill>
                  <a:srgbClr val="282828"/>
                </a:solidFill>
                <a:latin typeface="Aptos"/>
              </a:defRPr>
            </a:pPr>
            <a:r>
              <a:t>Works well in homogeneous environments</a:t>
            </a:r>
          </a:p>
        </p:txBody>
      </p:sp>
      <p:pic>
        <p:nvPicPr>
          <p:cNvPr id="10" name="Content Placeholder 7">
            <a:extLst>
              <a:ext uri="{FF2B5EF4-FFF2-40B4-BE49-F238E27FC236}">
                <a16:creationId xmlns:a16="http://schemas.microsoft.com/office/drawing/2014/main" id="{645C62BC-D94C-D97E-3758-BD39F6B73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1434844"/>
            <a:ext cx="5827764" cy="17907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CAF896-0ED7-207A-F91F-D47F81B3F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7917" y="1490251"/>
            <a:ext cx="1520801" cy="6025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EF49266-7F52-BB1C-F010-1FA1261FAC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0700" y="2478024"/>
            <a:ext cx="1295238" cy="37142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6CE1EA6-2D09-3013-BF5D-64D4F0BD76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128" y="3463341"/>
            <a:ext cx="2552381" cy="2666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The Problem: Target Masking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508760"/>
            <a:ext cx="3840480" cy="1645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82828"/>
                </a:solidFill>
                <a:latin typeface="Aptos"/>
              </a:defRPr>
            </a:pPr>
            <a:r>
              <a:t>Training cells include high-power clutter</a:t>
            </a:r>
          </a:p>
          <a:p>
            <a:pPr>
              <a:spcAft>
                <a:spcPts val="600"/>
              </a:spcAft>
              <a:defRPr sz="1800">
                <a:solidFill>
                  <a:srgbClr val="282828"/>
                </a:solidFill>
                <a:latin typeface="Aptos"/>
              </a:defRPr>
            </a:pPr>
            <a:r>
              <a:t>Estimated noise floor becomes biased upward</a:t>
            </a:r>
          </a:p>
          <a:p>
            <a:pPr>
              <a:spcAft>
                <a:spcPts val="600"/>
              </a:spcAft>
              <a:defRPr sz="1800">
                <a:solidFill>
                  <a:srgbClr val="282828"/>
                </a:solidFill>
                <a:latin typeface="Aptos"/>
              </a:defRPr>
            </a:pPr>
            <a:r>
              <a:t>Threshold rises and masks nearby targets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/>
              <p:cNvSpPr/>
              <p:nvPr/>
            </p:nvSpPr>
            <p:spPr>
              <a:xfrm>
                <a:off x="7635240" y="3749039"/>
                <a:ext cx="3749039" cy="1167090"/>
              </a:xfrm>
              <a:prstGeom prst="roundRect">
                <a:avLst/>
              </a:prstGeom>
              <a:solidFill>
                <a:srgbClr val="FAFBFC"/>
              </a:solidFill>
              <a:ln>
                <a:solidFill>
                  <a:srgbClr val="B9C3C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182880" rIns="182880" rtlCol="0" anchor="ctr"/>
              <a:lstStyle/>
              <a:p>
                <a:pPr algn="ctr"/>
                <a:endParaRPr lang="en-US" sz="1000" dirty="0">
                  <a:solidFill>
                    <a:srgbClr val="5F6973"/>
                  </a:solidFill>
                  <a:latin typeface="Aptos"/>
                </a:endParaRPr>
              </a:p>
              <a:p>
                <a:pPr algn="ctr"/>
                <a:endParaRPr lang="en-US" sz="1000" dirty="0">
                  <a:solidFill>
                    <a:srgbClr val="5F6973"/>
                  </a:solidFill>
                  <a:latin typeface="Aptos"/>
                </a:endParaRPr>
              </a:p>
              <a:p>
                <a:pPr algn="ctr"/>
                <a:r>
                  <a:rPr lang="en-US" sz="1000" dirty="0">
                    <a:solidFill>
                      <a:srgbClr val="5F6973"/>
                    </a:solidFill>
                    <a:latin typeface="Aptos"/>
                  </a:rPr>
                  <a:t>Target can satisfy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smtClean="0">
                            <a:solidFill>
                              <a:srgbClr val="5F69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5F6973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5F697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000" b="0" i="1" smtClean="0">
                        <a:solidFill>
                          <a:srgbClr val="5F6973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1000" b="0" i="1" smtClean="0">
                            <a:solidFill>
                              <a:srgbClr val="5F69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5F6973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5F697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sz="1000" dirty="0">
                  <a:solidFill>
                    <a:srgbClr val="5F6973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7" name="Rounded 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3749039"/>
                <a:ext cx="3749039" cy="116709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B9C3CD"/>
                </a:solidFill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254F1DFE-A6D5-CCC1-628E-22DD7AFA12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80" y="2031922"/>
            <a:ext cx="6125496" cy="29861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296D11-A603-A679-B6A0-6C951F846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568" y="3929085"/>
            <a:ext cx="1752381" cy="3714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Key Observation: CFAR is a Fixed Convolution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280160"/>
            <a:ext cx="5394960" cy="1380744"/>
          </a:xfrm>
          <a:prstGeom prst="roundRect">
            <a:avLst/>
          </a:prstGeom>
          <a:solidFill>
            <a:srgbClr val="FAFBFC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/>
            <a:endParaRPr sz="2000" dirty="0">
              <a:solidFill>
                <a:srgbClr val="282828"/>
              </a:solidFill>
              <a:latin typeface="Cambria Math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77240" y="2898648"/>
            <a:ext cx="5394960" cy="1426464"/>
          </a:xfrm>
          <a:prstGeom prst="roundRect">
            <a:avLst/>
          </a:prstGeom>
          <a:solidFill>
            <a:srgbClr val="FAFBFC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/>
            <a:endParaRPr sz="2000" dirty="0">
              <a:solidFill>
                <a:srgbClr val="282828"/>
              </a:solidFill>
              <a:latin typeface="Cambria Math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00800" y="1184148"/>
            <a:ext cx="4983480" cy="320040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/>
            <a:r>
              <a:rPr sz="1500" b="1" dirty="0">
                <a:solidFill>
                  <a:srgbClr val="1F3A56"/>
                </a:solidFill>
                <a:latin typeface="Aptos"/>
              </a:rPr>
              <a:t>Diagram placeholder
</a:t>
            </a:r>
            <a:r>
              <a:rPr sz="1200" dirty="0">
                <a:solidFill>
                  <a:srgbClr val="5F6973"/>
                </a:solidFill>
                <a:latin typeface="Aptos"/>
              </a:rPr>
              <a:t>CFAR window → convolution kernel
Training cells become fixed nonzero weights
Guard/CUT become zeros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26280"/>
            <a:ext cx="10515600" cy="9601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82828"/>
                </a:solidFill>
                <a:latin typeface="Aptos"/>
              </a:defRPr>
            </a:pPr>
            <a:r>
              <a:rPr dirty="0"/>
              <a:t>CFAR is not unrelated to deep learning — it is already convolutional</a:t>
            </a:r>
          </a:p>
          <a:p>
            <a:pPr>
              <a:spcAft>
                <a:spcPts val="600"/>
              </a:spcAft>
              <a:defRPr sz="1700">
                <a:solidFill>
                  <a:srgbClr val="282828"/>
                </a:solidFill>
                <a:latin typeface="Aptos"/>
              </a:defRPr>
            </a:pPr>
            <a:r>
              <a:rPr dirty="0"/>
              <a:t>The difference: CFAR weights are hand-designed and fixed</a:t>
            </a:r>
          </a:p>
          <a:p>
            <a:pPr>
              <a:spcAft>
                <a:spcPts val="600"/>
              </a:spcAft>
              <a:defRPr sz="1700">
                <a:solidFill>
                  <a:srgbClr val="282828"/>
                </a:solidFill>
                <a:latin typeface="Aptos"/>
              </a:defRPr>
            </a:pPr>
            <a:r>
              <a:rPr dirty="0"/>
              <a:t>Conv1D weights can be learned for the target clutter regime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CA923C-31CB-E45D-62E6-25E0977AC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529" y="1816821"/>
            <a:ext cx="2552381" cy="3714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D7996C-C147-826C-3541-8DA1FC9C9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381" y="3330888"/>
            <a:ext cx="4909984" cy="5802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Research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98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500" b="1">
                <a:solidFill>
                  <a:srgbClr val="1F3A56"/>
                </a:solidFill>
                <a:latin typeface="Aptos Display"/>
              </a:rPr>
              <a:t>Can a learned Conv1D detector outperform fixed CA-CFAR in heterogeneous clutter?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2606040"/>
            <a:ext cx="6217920" cy="868680"/>
          </a:xfrm>
          <a:prstGeom prst="roundRect">
            <a:avLst/>
          </a:prstGeom>
          <a:solidFill>
            <a:srgbClr val="FAFBFC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/>
            <a:endParaRPr sz="1000" dirty="0">
              <a:solidFill>
                <a:srgbClr val="5F6973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14400" y="3931920"/>
            <a:ext cx="4846320" cy="155448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/>
            <a:r>
              <a:rPr sz="1500" b="1">
                <a:solidFill>
                  <a:srgbClr val="1F3A56"/>
                </a:solidFill>
                <a:latin typeface="Aptos"/>
              </a:rPr>
              <a:t>CA-CFAR
</a:t>
            </a:r>
            <a:r>
              <a:rPr sz="1200">
                <a:solidFill>
                  <a:srgbClr val="5F6973"/>
                </a:solidFill>
                <a:latin typeface="Aptos"/>
              </a:rPr>
              <a:t>Fixed detector
Manual parameters
Analytical assumptions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931920"/>
            <a:ext cx="4846320" cy="155448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/>
            <a:r>
              <a:rPr sz="1500" b="1">
                <a:solidFill>
                  <a:srgbClr val="1F3A56"/>
                </a:solidFill>
                <a:latin typeface="Aptos"/>
              </a:rPr>
              <a:t>AdaCFAR-1D
</a:t>
            </a:r>
            <a:r>
              <a:rPr sz="1200">
                <a:solidFill>
                  <a:srgbClr val="5F6973"/>
                </a:solidFill>
                <a:latin typeface="Aptos"/>
              </a:rPr>
              <a:t>Learned detector
Task-specific parameters
Trained on simulated radar profiles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2F0EC9-FDAE-0DAD-2E62-745F47773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617" y="2935618"/>
            <a:ext cx="2514286" cy="2095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Dataset Generation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234440" cy="731520"/>
          </a:xfrm>
          <a:prstGeom prst="roundRect">
            <a:avLst/>
          </a:prstGeom>
          <a:solidFill>
            <a:srgbClr val="EEF1F5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82828"/>
                </a:solidFill>
                <a:latin typeface="Aptos"/>
              </a:rPr>
              <a:t>Targets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1783080"/>
            <a:ext cx="164592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901952" y="1417320"/>
            <a:ext cx="1234440" cy="731520"/>
          </a:xfrm>
          <a:prstGeom prst="roundRect">
            <a:avLst/>
          </a:prstGeom>
          <a:solidFill>
            <a:srgbClr val="EEF1F5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82828"/>
                </a:solidFill>
                <a:latin typeface="Aptos"/>
              </a:rPr>
              <a:t>Radar Eq.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6392" y="1783080"/>
            <a:ext cx="164592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00984" y="1417320"/>
            <a:ext cx="1234440" cy="731520"/>
          </a:xfrm>
          <a:prstGeom prst="roundRect">
            <a:avLst/>
          </a:prstGeom>
          <a:solidFill>
            <a:srgbClr val="EEF1F5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82828"/>
                </a:solidFill>
                <a:latin typeface="Aptos"/>
              </a:rPr>
              <a:t>Beamforming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35424" y="1783080"/>
            <a:ext cx="164592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700016" y="1417320"/>
            <a:ext cx="1234440" cy="731520"/>
          </a:xfrm>
          <a:prstGeom prst="roundRect">
            <a:avLst/>
          </a:prstGeom>
          <a:solidFill>
            <a:srgbClr val="EEF1F5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82828"/>
                </a:solidFill>
                <a:latin typeface="Aptos"/>
              </a:rPr>
              <a:t>Pulse
Compression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34456" y="1783080"/>
            <a:ext cx="164592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099048" y="1417320"/>
            <a:ext cx="1234440" cy="731520"/>
          </a:xfrm>
          <a:prstGeom prst="roundRect">
            <a:avLst/>
          </a:prstGeom>
          <a:solidFill>
            <a:srgbClr val="EEF1F5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82828"/>
                </a:solidFill>
                <a:latin typeface="Aptos"/>
              </a:rPr>
              <a:t>Envelope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33488" y="1783080"/>
            <a:ext cx="164592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98080" y="1417320"/>
            <a:ext cx="1234440" cy="731520"/>
          </a:xfrm>
          <a:prstGeom prst="roundRect">
            <a:avLst/>
          </a:prstGeom>
          <a:solidFill>
            <a:srgbClr val="EEF1F5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82828"/>
                </a:solidFill>
                <a:latin typeface="Aptos"/>
              </a:rPr>
              <a:t>NCI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32520" y="1783080"/>
            <a:ext cx="164592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97112" y="1417320"/>
            <a:ext cx="1234440" cy="731520"/>
          </a:xfrm>
          <a:prstGeom prst="roundRect">
            <a:avLst/>
          </a:prstGeom>
          <a:solidFill>
            <a:srgbClr val="EEF1F5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82828"/>
                </a:solidFill>
                <a:latin typeface="Aptos"/>
              </a:rPr>
              <a:t>1D Profile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31552" y="1783080"/>
            <a:ext cx="164592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296144" y="1417320"/>
            <a:ext cx="1234440" cy="731520"/>
          </a:xfrm>
          <a:prstGeom prst="roundRect">
            <a:avLst/>
          </a:prstGeom>
          <a:solidFill>
            <a:srgbClr val="EEF1F5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82828"/>
                </a:solidFill>
                <a:latin typeface="Aptos"/>
              </a:rPr>
              <a:t>Clutter +
Mask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84243"/>
              </p:ext>
            </p:extLst>
          </p:nvPr>
        </p:nvGraphicFramePr>
        <p:xfrm>
          <a:off x="914400" y="2743200"/>
          <a:ext cx="4389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1F3A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1F3A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828"/>
                          </a:solidFill>
                          <a:latin typeface="Aptos"/>
                        </a:rPr>
                        <a:t>Training profiles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828"/>
                          </a:solidFill>
                          <a:latin typeface="Aptos"/>
                        </a:rPr>
                        <a:t>25,000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828"/>
                          </a:solidFill>
                          <a:latin typeface="Aptos"/>
                        </a:rPr>
                        <a:t>Validation profiles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828"/>
                          </a:solidFill>
                          <a:latin typeface="Aptos"/>
                        </a:rPr>
                        <a:t>1,000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828"/>
                          </a:solidFill>
                          <a:latin typeface="Aptos"/>
                        </a:rPr>
                        <a:t>Range gates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828"/>
                          </a:solidFill>
                          <a:latin typeface="Aptos"/>
                        </a:rPr>
                        <a:t>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828"/>
                          </a:solidFill>
                          <a:latin typeface="Aptos"/>
                        </a:rPr>
                        <a:t>Targets/profile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828"/>
                          </a:solidFill>
                          <a:latin typeface="Aptos"/>
                        </a:rPr>
                        <a:t>0–4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828"/>
                          </a:solidFill>
                          <a:latin typeface="Aptos"/>
                        </a:rPr>
                        <a:t>SNR 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828"/>
                          </a:solidFill>
                          <a:latin typeface="Aptos"/>
                        </a:rPr>
                        <a:t>15–30 dB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828"/>
                          </a:solidFill>
                          <a:latin typeface="Aptos"/>
                        </a:rPr>
                        <a:t>Stress clutter multiplier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282828"/>
                          </a:solidFill>
                          <a:latin typeface="Aptos"/>
                        </a:rPr>
                        <a:t>5.0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" name="Picture 23">
            <a:extLst>
              <a:ext uri="{FF2B5EF4-FFF2-40B4-BE49-F238E27FC236}">
                <a16:creationId xmlns:a16="http://schemas.microsoft.com/office/drawing/2014/main" id="{E026D40C-18B6-1D72-734A-44B1DDAC9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066" y="2625005"/>
            <a:ext cx="4978908" cy="33325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Example Training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06440"/>
            <a:ext cx="1005840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82828"/>
                </a:solidFill>
                <a:latin typeface="Aptos"/>
              </a:defRPr>
            </a:pPr>
            <a:r>
              <a:t>Labels are generated from the clean processed target response</a:t>
            </a:r>
          </a:p>
          <a:p>
            <a:pPr>
              <a:spcAft>
                <a:spcPts val="600"/>
              </a:spcAft>
              <a:defRPr sz="1400">
                <a:solidFill>
                  <a:srgbClr val="282828"/>
                </a:solidFill>
                <a:latin typeface="Aptos"/>
              </a:defRPr>
            </a:pPr>
            <a:r>
              <a:t>The target is not a single bin: it occupies the pulse-compressed response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7F33637-345F-5A5D-8AE8-89B3A8E5B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176" y="1407601"/>
            <a:ext cx="7259648" cy="40427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AdaCFAR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94560"/>
            <a:ext cx="1051560" cy="731520"/>
          </a:xfrm>
          <a:prstGeom prst="roundRect">
            <a:avLst/>
          </a:prstGeom>
          <a:solidFill>
            <a:srgbClr val="F8F9FB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82828"/>
                </a:solidFill>
                <a:latin typeface="Aptos"/>
              </a:rPr>
              <a:t>Input
Profile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2560320"/>
            <a:ext cx="320040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057400" y="2194560"/>
            <a:ext cx="1051560" cy="731520"/>
          </a:xfrm>
          <a:prstGeom prst="roundRect">
            <a:avLst/>
          </a:prstGeom>
          <a:solidFill>
            <a:srgbClr val="F8F9FB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82828"/>
                </a:solidFill>
                <a:latin typeface="Aptos"/>
              </a:rPr>
              <a:t>Conv1D
k=7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2560320"/>
            <a:ext cx="320040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29000" y="2194560"/>
            <a:ext cx="1051560" cy="731520"/>
          </a:xfrm>
          <a:prstGeom prst="roundRect">
            <a:avLst/>
          </a:prstGeom>
          <a:solidFill>
            <a:srgbClr val="F8F9FB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82828"/>
                </a:solidFill>
                <a:latin typeface="Aptos"/>
              </a:rPr>
              <a:t>Dilated
Conv d=4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80560" y="2560320"/>
            <a:ext cx="320040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800600" y="2194560"/>
            <a:ext cx="1051560" cy="731520"/>
          </a:xfrm>
          <a:prstGeom prst="roundRect">
            <a:avLst/>
          </a:prstGeom>
          <a:solidFill>
            <a:srgbClr val="F8F9FB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82828"/>
                </a:solidFill>
                <a:latin typeface="Aptos"/>
              </a:rPr>
              <a:t>Dilated
Conv d=16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2560320"/>
            <a:ext cx="320040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72200" y="2194560"/>
            <a:ext cx="1051560" cy="731520"/>
          </a:xfrm>
          <a:prstGeom prst="roundRect">
            <a:avLst/>
          </a:prstGeom>
          <a:solidFill>
            <a:srgbClr val="F8F9FB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82828"/>
                </a:solidFill>
                <a:latin typeface="Aptos"/>
              </a:rPr>
              <a:t>Dilated
Conv d=64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23760" y="2560320"/>
            <a:ext cx="320040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543800" y="2194560"/>
            <a:ext cx="1051560" cy="731520"/>
          </a:xfrm>
          <a:prstGeom prst="roundRect">
            <a:avLst/>
          </a:prstGeom>
          <a:solidFill>
            <a:srgbClr val="F8F9FB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82828"/>
                </a:solidFill>
                <a:latin typeface="Aptos"/>
              </a:rPr>
              <a:t>Residual
Add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95360" y="2560320"/>
            <a:ext cx="320040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915400" y="2194560"/>
            <a:ext cx="1051560" cy="731520"/>
          </a:xfrm>
          <a:prstGeom prst="roundRect">
            <a:avLst/>
          </a:prstGeom>
          <a:solidFill>
            <a:srgbClr val="F8F9FB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82828"/>
                </a:solidFill>
                <a:latin typeface="Aptos"/>
              </a:rPr>
              <a:t>1×1
Fusion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966960" y="2560320"/>
            <a:ext cx="228600" cy="0"/>
          </a:xfrm>
          <a:prstGeom prst="line">
            <a:avLst/>
          </a:prstGeom>
          <a:ln w="19050">
            <a:solidFill>
              <a:srgbClr val="4669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195560" y="2194560"/>
            <a:ext cx="1051560" cy="731520"/>
          </a:xfrm>
          <a:prstGeom prst="roundRect">
            <a:avLst/>
          </a:prstGeom>
          <a:solidFill>
            <a:srgbClr val="F8F9FB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82828"/>
                </a:solidFill>
                <a:latin typeface="Aptos"/>
              </a:rPr>
              <a:t>Sigmoid
Mask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31921"/>
            <a:ext cx="4754880" cy="119417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82828"/>
                </a:solidFill>
                <a:latin typeface="Aptos"/>
              </a:defRPr>
            </a:pPr>
            <a:r>
              <a:rPr dirty="0"/>
              <a:t>Wide first kernel captures pulse morphology</a:t>
            </a:r>
          </a:p>
          <a:p>
            <a:pPr>
              <a:spcAft>
                <a:spcPts val="600"/>
              </a:spcAft>
              <a:defRPr sz="1600">
                <a:solidFill>
                  <a:srgbClr val="282828"/>
                </a:solidFill>
                <a:latin typeface="Aptos"/>
              </a:defRPr>
            </a:pPr>
            <a:r>
              <a:rPr dirty="0"/>
              <a:t>Dilated convolutions capture long-range clutter context</a:t>
            </a:r>
          </a:p>
          <a:p>
            <a:pPr>
              <a:spcAft>
                <a:spcPts val="600"/>
              </a:spcAft>
              <a:defRPr sz="1600">
                <a:solidFill>
                  <a:srgbClr val="282828"/>
                </a:solidFill>
                <a:latin typeface="Aptos"/>
              </a:defRPr>
            </a:pPr>
            <a:r>
              <a:rPr dirty="0"/>
              <a:t>Skip connection preserves local target features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1E033DD-B4DB-3C24-773F-C4F7DBCC5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214" y="3846444"/>
            <a:ext cx="5578291" cy="14328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Training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57800" cy="402336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/>
            <a:r>
              <a:rPr sz="1500" b="1">
                <a:solidFill>
                  <a:srgbClr val="1F3A56"/>
                </a:solidFill>
                <a:latin typeface="Aptos"/>
              </a:rPr>
              <a:t>Loss curve
</a:t>
            </a:r>
            <a:r>
              <a:rPr sz="1200">
                <a:solidFill>
                  <a:srgbClr val="5F6973"/>
                </a:solidFill>
                <a:latin typeface="Aptos"/>
              </a:rPr>
              <a:t>Training loss vs epochs
Validation loss vs epochs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34440"/>
            <a:ext cx="5257800" cy="402336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/>
            <a:r>
              <a:rPr sz="1500" b="1">
                <a:solidFill>
                  <a:srgbClr val="1F3A56"/>
                </a:solidFill>
                <a:latin typeface="Aptos"/>
              </a:rPr>
              <a:t>Metric curve
</a:t>
            </a:r>
            <a:r>
              <a:rPr sz="1200">
                <a:solidFill>
                  <a:srgbClr val="5F6973"/>
                </a:solidFill>
                <a:latin typeface="Aptos"/>
              </a:rPr>
              <a:t>Dice coefficient vs epochs
Training +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577840"/>
            <a:ext cx="1005840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82828"/>
                </a:solidFill>
                <a:latin typeface="Aptos"/>
              </a:defRPr>
            </a:pPr>
            <a:r>
              <a:t>Generate after retraining</a:t>
            </a:r>
          </a:p>
          <a:p>
            <a:pPr>
              <a:spcAft>
                <a:spcPts val="600"/>
              </a:spcAft>
              <a:defRPr sz="1400">
                <a:solidFill>
                  <a:srgbClr val="282828"/>
                </a:solidFill>
                <a:latin typeface="Aptos"/>
              </a:defRPr>
            </a:pPr>
            <a:r>
              <a:t>Keep plots simple: black/gray lines, no heavy styling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Detection Probability: CA-CFAR vs AdaCFAR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7043443"/>
              </p:ext>
            </p:extLst>
          </p:nvPr>
        </p:nvGraphicFramePr>
        <p:xfrm>
          <a:off x="1965960" y="1458468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SNR</a:t>
                      </a:r>
                    </a:p>
                  </a:txBody>
                  <a:tcPr marL="54864" marR="54864" marT="27432" marB="27432">
                    <a:solidFill>
                      <a:srgbClr val="1F3A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CA-CFAR</a:t>
                      </a:r>
                    </a:p>
                  </a:txBody>
                  <a:tcPr marL="54864" marR="54864" marT="27432" marB="27432">
                    <a:solidFill>
                      <a:srgbClr val="1F3A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AdaCFAR V4</a:t>
                      </a:r>
                    </a:p>
                  </a:txBody>
                  <a:tcPr marL="54864" marR="54864" marT="27432" marB="27432">
                    <a:solidFill>
                      <a:srgbClr val="1F3A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Improvement</a:t>
                      </a:r>
                    </a:p>
                  </a:txBody>
                  <a:tcPr marL="54864" marR="54864" marT="27432" marB="27432">
                    <a:solidFill>
                      <a:srgbClr val="1F3A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282828"/>
                          </a:solidFill>
                          <a:latin typeface="Aptos"/>
                        </a:rPr>
                        <a:t>30 dB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282828"/>
                          </a:solidFill>
                          <a:latin typeface="Aptos"/>
                        </a:rPr>
                        <a:t>78.4%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282828"/>
                          </a:solidFill>
                          <a:latin typeface="Aptos"/>
                        </a:rPr>
                        <a:t>88.5%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282828"/>
                          </a:solidFill>
                          <a:latin typeface="Aptos"/>
                        </a:rPr>
                        <a:t>+10.1 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282828"/>
                          </a:solidFill>
                          <a:latin typeface="Aptos"/>
                        </a:rPr>
                        <a:t>25 dB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282828"/>
                          </a:solidFill>
                          <a:latin typeface="Aptos"/>
                        </a:rPr>
                        <a:t>68.8%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282828"/>
                          </a:solidFill>
                          <a:latin typeface="Aptos"/>
                        </a:rPr>
                        <a:t>82.4%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282828"/>
                          </a:solidFill>
                          <a:latin typeface="Aptos"/>
                        </a:rPr>
                        <a:t>+13.6 pts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282828"/>
                          </a:solidFill>
                          <a:latin typeface="Aptos"/>
                        </a:rPr>
                        <a:t>20 dB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282828"/>
                          </a:solidFill>
                          <a:latin typeface="Aptos"/>
                        </a:rPr>
                        <a:t>55.6%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282828"/>
                          </a:solidFill>
                          <a:latin typeface="Aptos"/>
                        </a:rPr>
                        <a:t>71.7%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282828"/>
                          </a:solidFill>
                          <a:latin typeface="Aptos"/>
                        </a:rPr>
                        <a:t>+16.1 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282828"/>
                          </a:solidFill>
                          <a:latin typeface="Aptos"/>
                        </a:rPr>
                        <a:t>15 dB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282828"/>
                          </a:solidFill>
                          <a:latin typeface="Aptos"/>
                        </a:rPr>
                        <a:t>41.3%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282828"/>
                          </a:solidFill>
                          <a:latin typeface="Aptos"/>
                        </a:rPr>
                        <a:t>58.9%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282828"/>
                          </a:solidFill>
                          <a:latin typeface="Aptos"/>
                        </a:rPr>
                        <a:t>+17.6 pts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1097280" y="4800600"/>
                <a:ext cx="9144000" cy="686342"/>
              </a:xfrm>
              <a:prstGeom prst="rect">
                <a:avLst/>
              </a:prstGeom>
              <a:noFill/>
            </p:spPr>
            <p:txBody>
              <a:bodyPr wrap="square" lIns="45720" tIns="27432" rIns="45720" bIns="27432">
                <a:spAutoFit/>
              </a:bodyPr>
              <a:lstStyle/>
              <a:p>
                <a:pPr>
                  <a:spcAft>
                    <a:spcPts val="600"/>
                  </a:spcAft>
                  <a:defRPr sz="1800">
                    <a:solidFill>
                      <a:srgbClr val="282828"/>
                    </a:solidFill>
                    <a:latin typeface="Aptos"/>
                  </a:defRPr>
                </a:pPr>
                <a:r>
                  <a:rPr lang="en-US" dirty="0"/>
                  <a:t>AdaCFAR improves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e-I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at every tested SNR</a:t>
                </a:r>
              </a:p>
              <a:p>
                <a:pPr>
                  <a:spcAft>
                    <a:spcPts val="600"/>
                  </a:spcAft>
                  <a:defRPr sz="1800">
                    <a:solidFill>
                      <a:srgbClr val="282828"/>
                    </a:solidFill>
                    <a:latin typeface="Aptos"/>
                  </a:defRPr>
                </a:pPr>
                <a:r>
                  <a:rPr lang="en-US" dirty="0"/>
                  <a:t>The gain grows as the scenario becomes harder</a:t>
                </a:r>
                <a:endParaRPr dirty="0"/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80" y="4800600"/>
                <a:ext cx="9144000" cy="686342"/>
              </a:xfrm>
              <a:prstGeom prst="rect">
                <a:avLst/>
              </a:prstGeom>
              <a:blipFill>
                <a:blip r:embed="rId2"/>
                <a:stretch>
                  <a:fillRect l="-1067" t="-7143" b="-16071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False Alarm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288792"/>
              </p:ext>
            </p:extLst>
          </p:nvPr>
        </p:nvGraphicFramePr>
        <p:xfrm>
          <a:off x="2286000" y="1504041"/>
          <a:ext cx="7680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FFFFFF"/>
                          </a:solidFill>
                          <a:latin typeface="Aptos"/>
                        </a:rPr>
                        <a:t>SNR</a:t>
                      </a:r>
                    </a:p>
                  </a:txBody>
                  <a:tcPr marL="54864" marR="54864" marT="27432" marB="27432">
                    <a:solidFill>
                      <a:srgbClr val="1F3A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Aptos"/>
                        </a:rPr>
                        <a:t>CA-CFAR FA</a:t>
                      </a:r>
                    </a:p>
                  </a:txBody>
                  <a:tcPr marL="54864" marR="54864" marT="27432" marB="27432">
                    <a:solidFill>
                      <a:srgbClr val="1F3A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dirty="0" err="1">
                          <a:solidFill>
                            <a:srgbClr val="FFFFFF"/>
                          </a:solidFill>
                          <a:latin typeface="Aptos"/>
                        </a:rPr>
                        <a:t>AdaCFAR</a:t>
                      </a:r>
                      <a:r>
                        <a:rPr sz="1900" b="1" dirty="0">
                          <a:solidFill>
                            <a:srgbClr val="FFFFFF"/>
                          </a:solidFill>
                          <a:latin typeface="Aptos"/>
                        </a:rPr>
                        <a:t> V4 FA</a:t>
                      </a:r>
                    </a:p>
                  </a:txBody>
                  <a:tcPr marL="54864" marR="54864" marT="27432" marB="27432">
                    <a:solidFill>
                      <a:srgbClr val="1F3A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900">
                          <a:solidFill>
                            <a:srgbClr val="282828"/>
                          </a:solidFill>
                          <a:latin typeface="Aptos"/>
                        </a:rPr>
                        <a:t>30 dB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dirty="0">
                          <a:solidFill>
                            <a:srgbClr val="282828"/>
                          </a:solidFill>
                          <a:latin typeface="Aptos"/>
                        </a:rPr>
                        <a:t>285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dirty="0">
                          <a:solidFill>
                            <a:srgbClr val="282828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900">
                          <a:solidFill>
                            <a:srgbClr val="282828"/>
                          </a:solidFill>
                          <a:latin typeface="Aptos"/>
                        </a:rPr>
                        <a:t>25 dB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dirty="0">
                          <a:solidFill>
                            <a:srgbClr val="282828"/>
                          </a:solidFill>
                          <a:latin typeface="Aptos"/>
                        </a:rPr>
                        <a:t>287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dirty="0">
                          <a:solidFill>
                            <a:srgbClr val="282828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900">
                          <a:solidFill>
                            <a:srgbClr val="282828"/>
                          </a:solidFill>
                          <a:latin typeface="Aptos"/>
                        </a:rPr>
                        <a:t>20 dB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>
                          <a:solidFill>
                            <a:srgbClr val="282828"/>
                          </a:solidFill>
                          <a:latin typeface="Aptos"/>
                        </a:rPr>
                        <a:t>291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dirty="0">
                          <a:solidFill>
                            <a:srgbClr val="282828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900">
                          <a:solidFill>
                            <a:srgbClr val="282828"/>
                          </a:solidFill>
                          <a:latin typeface="Aptos"/>
                        </a:rPr>
                        <a:t>15 dB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>
                          <a:solidFill>
                            <a:srgbClr val="282828"/>
                          </a:solidFill>
                          <a:latin typeface="Aptos"/>
                        </a:rPr>
                        <a:t>278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dirty="0">
                          <a:solidFill>
                            <a:srgbClr val="282828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554480" y="4800600"/>
            <a:ext cx="91440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82828"/>
                </a:solidFill>
                <a:latin typeface="Aptos"/>
              </a:defRPr>
            </a:pPr>
            <a:r>
              <a:t>False alarms are counted as connected predicted components</a:t>
            </a:r>
          </a:p>
          <a:p>
            <a:pPr>
              <a:spcAft>
                <a:spcPts val="600"/>
              </a:spcAft>
              <a:defRPr sz="1800">
                <a:solidFill>
                  <a:srgbClr val="282828"/>
                </a:solidFill>
                <a:latin typeface="Aptos"/>
              </a:defRPr>
            </a:pPr>
            <a:r>
              <a:t>The final model improves detection without flooding the tracker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Qualitative Comparison: V4 vs CA-CFAR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13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768444"/>
              </p:ext>
            </p:extLst>
          </p:nvPr>
        </p:nvGraphicFramePr>
        <p:xfrm>
          <a:off x="2697480" y="1371600"/>
          <a:ext cx="66751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5532120"/>
            <a:ext cx="103327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82828"/>
                </a:solidFill>
                <a:latin typeface="Aptos"/>
              </a:defRPr>
            </a:pPr>
            <a:r>
              <a:rPr dirty="0"/>
              <a:t>The chart mixes Pd (%) and FA counts for visual contrast only</a:t>
            </a:r>
          </a:p>
          <a:p>
            <a:pPr>
              <a:spcAft>
                <a:spcPts val="600"/>
              </a:spcAft>
              <a:defRPr sz="1300">
                <a:solidFill>
                  <a:srgbClr val="282828"/>
                </a:solidFill>
                <a:latin typeface="Aptos"/>
              </a:defRPr>
            </a:pPr>
            <a:r>
              <a:rPr dirty="0"/>
              <a:t>Use actual profile figure for final qualitative evidence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6"/>
                </a:solidFill>
                <a:latin typeface="Aptos Display"/>
              </a:rPr>
              <a:t>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1155680" cy="18288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6675120" cy="2926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282828"/>
                </a:solidFill>
                <a:latin typeface="Aptos"/>
              </a:defRPr>
            </a:pPr>
            <a:r>
              <a:rPr dirty="0"/>
              <a:t>CA-CFAR can be interpreted as a fixed convolutional detector</a:t>
            </a:r>
          </a:p>
          <a:p>
            <a:pPr>
              <a:spcAft>
                <a:spcPts val="600"/>
              </a:spcAft>
              <a:defRPr sz="2200">
                <a:solidFill>
                  <a:srgbClr val="282828"/>
                </a:solidFill>
                <a:latin typeface="Aptos"/>
              </a:defRPr>
            </a:pPr>
            <a:r>
              <a:rPr dirty="0"/>
              <a:t>AdaCFAR-1D learns a task-specific Conv1D detection rule</a:t>
            </a:r>
          </a:p>
          <a:p>
            <a:pPr>
              <a:spcAft>
                <a:spcPts val="600"/>
              </a:spcAft>
              <a:defRPr sz="2200">
                <a:solidFill>
                  <a:srgbClr val="282828"/>
                </a:solidFill>
                <a:latin typeface="Aptos"/>
              </a:defRPr>
            </a:pPr>
            <a:r>
              <a:rPr dirty="0"/>
              <a:t>The final model improves detection probability while suppressing false alarms</a:t>
            </a:r>
          </a:p>
          <a:p>
            <a:pPr>
              <a:spcAft>
                <a:spcPts val="600"/>
              </a:spcAft>
              <a:defRPr sz="2200">
                <a:solidFill>
                  <a:srgbClr val="282828"/>
                </a:solidFill>
                <a:latin typeface="Aptos"/>
              </a:defRPr>
            </a:pPr>
            <a:r>
              <a:rPr dirty="0"/>
              <a:t>This is a proof of concept, not a general CFAR replacement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4892040"/>
            <a:ext cx="8138160" cy="777240"/>
          </a:xfrm>
          <a:prstGeom prst="roundRect">
            <a:avLst/>
          </a:prstGeom>
          <a:solidFill>
            <a:srgbClr val="FAFBFC"/>
          </a:solidFill>
          <a:ln>
            <a:solidFill>
              <a:srgbClr val="B9C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/>
            <a:endParaRPr lang="he-IL" sz="1000" dirty="0">
              <a:solidFill>
                <a:srgbClr val="5F6973"/>
              </a:solidFill>
              <a:latin typeface="Aptos"/>
            </a:endParaRPr>
          </a:p>
          <a:p>
            <a:pPr algn="ctr"/>
            <a:endParaRPr lang="he-IL" sz="1000" dirty="0">
              <a:solidFill>
                <a:srgbClr val="5F6973"/>
              </a:solidFill>
              <a:latin typeface="Aptos"/>
            </a:endParaRPr>
          </a:p>
          <a:p>
            <a:pPr algn="ctr"/>
            <a:endParaRPr lang="he-IL" sz="1000" dirty="0">
              <a:solidFill>
                <a:srgbClr val="5F6973"/>
              </a:solidFill>
              <a:latin typeface="Aptos"/>
            </a:endParaRPr>
          </a:p>
          <a:p>
            <a:pPr algn="ctr"/>
            <a:r>
              <a:rPr sz="1000" dirty="0">
                <a:solidFill>
                  <a:srgbClr val="5F6973"/>
                </a:solidFill>
                <a:latin typeface="Aptos"/>
              </a:rPr>
              <a:t>Manual detector → learned adaptive detector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434F14-3594-33D8-1E05-B437A03A6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617" y="5120640"/>
            <a:ext cx="2514286" cy="2095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28282"/>
                </a:solidFill>
                <a:latin typeface="Aptos"/>
              </a:rPr>
              <a:t>AdaCFAR-1D  |  Deep Learning Course  |  15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9EA49B-F674-0CD9-0C7F-A722468BD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976" y="725509"/>
            <a:ext cx="9612413" cy="5406982"/>
          </a:xfrm>
          <a:prstGeom prst="round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609541" y="2957543"/>
            <a:ext cx="290983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 dirty="0">
                <a:solidFill>
                  <a:schemeClr val="bg1"/>
                </a:solidFill>
                <a:latin typeface="Aptos Display"/>
              </a:rPr>
              <a:t>Questions?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EFF32D-B33E-3596-0313-8D3799D900A6}"/>
              </a:ext>
            </a:extLst>
          </p:cNvPr>
          <p:cNvSpPr txBox="1"/>
          <p:nvPr/>
        </p:nvSpPr>
        <p:spPr>
          <a:xfrm>
            <a:off x="1655497" y="3916143"/>
            <a:ext cx="382431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ptos Display"/>
              </a:rPr>
              <a:t>Daniel Attali &amp; Sapir Bashan</a:t>
            </a:r>
            <a:endParaRPr sz="2400" b="1" dirty="0">
              <a:solidFill>
                <a:schemeClr val="bg1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627</Words>
  <Application>Microsoft Office PowerPoint</Application>
  <PresentationFormat>Widescreen</PresentationFormat>
  <Paragraphs>144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Attali Daniel</cp:lastModifiedBy>
  <cp:revision>13</cp:revision>
  <dcterms:created xsi:type="dcterms:W3CDTF">2013-01-27T09:14:16Z</dcterms:created>
  <dcterms:modified xsi:type="dcterms:W3CDTF">2026-06-16T12:59:44Z</dcterms:modified>
  <cp:category/>
</cp:coreProperties>
</file>